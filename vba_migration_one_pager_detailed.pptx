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36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outlines our end-to-end workflow for migrating Excel VBA macros to Python using agentic AI.</a:t>
            </a:r>
          </a:p>
          <a:p>
            <a:r>
              <a:t>We begin by ingesting the workbook and extracting all VBA code and metadata.</a:t>
            </a:r>
          </a:p>
          <a:p>
            <a:r>
              <a:t>Next, we build an execution flow and convert the logic using LLMs with confidence scoring.</a:t>
            </a:r>
          </a:p>
          <a:p>
            <a:r>
              <a:t>The converted Python is tested against the original macro using snapshot comparisons.</a:t>
            </a:r>
          </a:p>
          <a:p>
            <a:r>
              <a:t>Key benefits include reusable automation, traceability, and reduced maintenance.</a:t>
            </a:r>
          </a:p>
          <a:p>
            <a:r>
              <a:t>Challenges like complex Excel models and ActiveX are mitigated with win32com and user review.</a:t>
            </a:r>
          </a:p>
          <a:p>
            <a:r>
              <a:t>With this approach, we ensure high-quality, scalable automation with governance.</a:t>
            </a:r>
          </a:p>
          <a:p>
            <a:r>
              <a:t>We seek approval to proceed with pilot deployments and licensing.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VBA to Python Migration — Agentic AI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Ingest Workbook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Select .</a:t>
            </a:r>
            <a:r>
              <a:rPr dirty="0" err="1"/>
              <a:t>xlsm</a:t>
            </a:r>
            <a:r>
              <a:rPr dirty="0"/>
              <a:t> file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Store project metadata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User input required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Supports .</a:t>
            </a:r>
            <a:r>
              <a:rPr dirty="0" err="1"/>
              <a:t>xlsm</a:t>
            </a:r>
            <a:r>
              <a:rPr dirty="0"/>
              <a:t> only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03120" y="1554480"/>
            <a:ext cx="91440" cy="18288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Extract VBA &amp; Metadata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Parse modules, sheets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Capture formulas, </a:t>
            </a:r>
            <a:r>
              <a:rPr dirty="0" err="1"/>
              <a:t>userforms</a:t>
            </a:r>
            <a:endParaRPr dirty="0"/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Automated parsing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Limited ActiveX support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1554480"/>
            <a:ext cx="91440" cy="18288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Build Execution Flow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Generate call graph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Order procedures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Topological sort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Complex flows may need review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1554480"/>
            <a:ext cx="91440" cy="18288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504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LLM Conversion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Convert VBA to Python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Score confidence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LLM API key required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Low-confidence flagged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63840" y="1554480"/>
            <a:ext cx="91440" cy="18288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Agentic Execution &amp; Test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Run macro &amp; Python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Compare outputs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Snapshot testing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• User validation needed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84080" y="1554480"/>
            <a:ext cx="91440" cy="18288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75520" y="1097280"/>
            <a:ext cx="182880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Persist &amp; Reuse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Tasks: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Save converted code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Enable re-runs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Controls: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Macro name lookup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Context &amp; Limitations: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Manual updates 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4512" y="3520440"/>
            <a:ext cx="1828800" cy="1463040"/>
          </a:xfrm>
          <a:prstGeom prst="rect">
            <a:avLst/>
          </a:prstGeom>
          <a:solidFill>
            <a:srgbClr val="E6E6E6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003366"/>
                </a:solidFill>
                <a:latin typeface="Calibri"/>
              </a:defRPr>
            </a:pPr>
            <a:r>
              <a:t>Key Requirements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Windows + Excel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Python 3.10+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pywin32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LLM API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724912"/>
            <a:ext cx="1828800" cy="1463040"/>
          </a:xfrm>
          <a:prstGeom prst="rect">
            <a:avLst/>
          </a:prstGeom>
          <a:solidFill>
            <a:srgbClr val="E6E6E6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003366"/>
                </a:solidFill>
                <a:latin typeface="Calibri"/>
              </a:defRPr>
            </a:pPr>
            <a:r>
              <a:t>Benefits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Reusable code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Faster automation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Traceable flow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Less maintenance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4206240"/>
            <a:ext cx="1828800" cy="1463040"/>
          </a:xfrm>
          <a:prstGeom prst="rect">
            <a:avLst/>
          </a:prstGeom>
          <a:solidFill>
            <a:srgbClr val="E6E6E6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003366"/>
                </a:solidFill>
                <a:latin typeface="Calibri"/>
              </a:defRPr>
            </a:pPr>
            <a:r>
              <a:t>Challenges &amp; Mitigations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Complex model → win32com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UserForms → manual rework</a:t>
            </a:r>
          </a:p>
          <a:p>
            <a:pPr>
              <a:defRPr sz="1000">
                <a:solidFill>
                  <a:srgbClr val="606060"/>
                </a:solidFill>
                <a:latin typeface="Calibri"/>
              </a:defRPr>
            </a:pPr>
            <a:r>
              <a:t>• Macro risk → 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06060"/>
                </a:solidFill>
                <a:latin typeface="Calibri"/>
              </a:defRPr>
            </a:pPr>
            <a:r>
              <a:t>Output parity testing • Confidence scoring per procedure • Saved projects for reuse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343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sitaram sahu</cp:lastModifiedBy>
  <cp:revision>2</cp:revision>
  <dcterms:created xsi:type="dcterms:W3CDTF">2013-01-27T09:14:16Z</dcterms:created>
  <dcterms:modified xsi:type="dcterms:W3CDTF">2026-02-17T11:11:47Z</dcterms:modified>
  <cp:category/>
</cp:coreProperties>
</file>